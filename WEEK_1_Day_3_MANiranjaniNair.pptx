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1" r:id="rId4"/>
  </p:sldIdLst>
  <p:sldSz cx="18288000" cy="10287000"/>
  <p:notesSz cx="6858000" cy="9144000"/>
  <p:embeddedFontLst>
    <p:embeddedFont>
      <p:font typeface="Bookman Old Style" panose="02050604050505020204" pitchFamily="18" charset="0"/>
      <p:regular r:id="rId5"/>
      <p:bold r:id="rId6"/>
      <p:italic r:id="rId7"/>
      <p:boldItalic r:id="rId8"/>
    </p:embeddedFon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Candal" panose="020B0604020202020204" charset="0"/>
      <p:regular r:id="rId13"/>
    </p:embeddedFont>
    <p:embeddedFont>
      <p:font typeface="Glacial Indifferen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82110" y="5181110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4929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048490" y="-2973269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65530" y="1711596"/>
            <a:ext cx="1350302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Battery SoC Estimation &amp; Remaining Charging-Time Prediction</a:t>
            </a:r>
            <a:endParaRPr lang="en-US" sz="4400" dirty="0"/>
          </a:p>
        </p:txBody>
      </p:sp>
      <p:sp>
        <p:nvSpPr>
          <p:cNvPr id="6" name="Freeform 6"/>
          <p:cNvSpPr/>
          <p:nvPr/>
        </p:nvSpPr>
        <p:spPr>
          <a:xfrm>
            <a:off x="-236144" y="-195501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171741" y="6177516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5233" y="8131414"/>
            <a:ext cx="7315200" cy="1923288"/>
          </a:xfrm>
          <a:custGeom>
            <a:avLst/>
            <a:gdLst/>
            <a:ahLst/>
            <a:cxnLst/>
            <a:rect l="l" t="t" r="r" b="b"/>
            <a:pathLst>
              <a:path w="7315200" h="1923288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8211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07070" y="9544947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7352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165530" y="4178581"/>
            <a:ext cx="9226144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andal"/>
                <a:ea typeface="Candal"/>
                <a:cs typeface="Candal"/>
                <a:sym typeface="Candal"/>
              </a:rPr>
              <a:t>REFINED RESEARCH QUESTION</a:t>
            </a:r>
          </a:p>
          <a:p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Is it possible for supervised Machine Learning models (starting from linear baseline model through Random Forest to </a:t>
            </a:r>
            <a:r>
              <a:rPr lang="en-US" sz="2000" dirty="0" err="1">
                <a:latin typeface="Candal"/>
                <a:ea typeface="Candal"/>
                <a:cs typeface="Candal"/>
                <a:sym typeface="Candal"/>
              </a:rPr>
              <a:t>XGBoost</a:t>
            </a: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 with ANN as escalation) to predict a battery State of Charge (%), and time needed to charge remaining (in minutes) with greater accuracy and stability throughout the operation and charging phases of the battery in comparison to Coulomb counting or equivalents?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955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3022934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5306" y="7772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905870" y="29576"/>
            <a:ext cx="8559438" cy="146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FINDINGS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78869" y="1696780"/>
            <a:ext cx="14024542" cy="1274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3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Tree ensembles are the safe core. RF/</a:t>
            </a:r>
            <a:r>
              <a:rPr lang="en-US" sz="2300" dirty="0" err="1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XGBoost</a:t>
            </a:r>
            <a:r>
              <a:rPr lang="en-US" sz="23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 outperformed or at least tied neural baselines in 5 out of 8 papers considered here – thus, making their usage in comparisons justified, not simply an option.</a:t>
            </a:r>
            <a:endParaRPr lang="en-US" sz="2300" dirty="0">
              <a:solidFill>
                <a:srgbClr val="343434"/>
              </a:solidFill>
              <a:latin typeface="Bookman Old Style" panose="02050604050505020204" pitchFamily="18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00400" y="4697886"/>
            <a:ext cx="12130262" cy="127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3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RF and </a:t>
            </a:r>
            <a:r>
              <a:rPr lang="en-US" sz="2300" dirty="0" err="1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XGBoost</a:t>
            </a:r>
            <a:r>
              <a:rPr lang="en-US" sz="23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 fusion is better than either alone. Two independent studies prove that just adding one step of a simple combination can yield gains beyond those of both models working separately.</a:t>
            </a:r>
            <a:endParaRPr lang="en-US" sz="2300" dirty="0">
              <a:solidFill>
                <a:srgbClr val="343434"/>
              </a:solidFill>
              <a:latin typeface="Bookman Old Style" panose="02050604050505020204" pitchFamily="18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20458" y="3193320"/>
            <a:ext cx="12130262" cy="127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3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RF exhibits low performance during the charge cycle's extremities. Many researchers point out that RF is inaccurate when the SoC levels are either 0% or 100%.</a:t>
            </a:r>
            <a:endParaRPr lang="en-US" sz="2300" dirty="0">
              <a:solidFill>
                <a:srgbClr val="343434"/>
              </a:solidFill>
              <a:latin typeface="Bookman Old Style" panose="02050604050505020204" pitchFamily="18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00400" y="6319055"/>
            <a:ext cx="12130262" cy="127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 Bold"/>
                <a:cs typeface="Glacial Indifference Bold"/>
                <a:sym typeface="Glacial Indifference Bold"/>
              </a:rPr>
              <a:t>ANN really works well only when applied on a large scale or on distorted input signals. The deep learning algorithms succeeded only when applied to very large data sets or temperature-distorted signals.</a:t>
            </a:r>
            <a:endParaRPr lang="en-US" sz="2400" dirty="0">
              <a:solidFill>
                <a:srgbClr val="343434"/>
              </a:solidFill>
              <a:latin typeface="Bookman Old Style" panose="02050604050505020204" pitchFamily="18" charset="0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E9688FC-500C-1188-DD3B-9C56544D6BD2}"/>
              </a:ext>
            </a:extLst>
          </p:cNvPr>
          <p:cNvSpPr txBox="1"/>
          <p:nvPr/>
        </p:nvSpPr>
        <p:spPr>
          <a:xfrm>
            <a:off x="5791200" y="9575386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771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3950532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57400" y="76194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69348" y="332918"/>
            <a:ext cx="11749304" cy="1361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5400" b="1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BLOCKERS AND NEXT PLAN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7E0928-4CCF-DC28-8156-3148E10E7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95154"/>
              </p:ext>
            </p:extLst>
          </p:nvPr>
        </p:nvGraphicFramePr>
        <p:xfrm>
          <a:off x="2951193" y="2468962"/>
          <a:ext cx="5049807" cy="6636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9807">
                  <a:extLst>
                    <a:ext uri="{9D8B030D-6E8A-4147-A177-3AD203B41FA5}">
                      <a16:colId xmlns:a16="http://schemas.microsoft.com/office/drawing/2014/main" val="1579982262"/>
                    </a:ext>
                  </a:extLst>
                </a:gridCol>
              </a:tblGrid>
              <a:tr h="1659236"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/>
                        <a:t>BLOCKERS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894289"/>
                  </a:ext>
                </a:extLst>
              </a:tr>
              <a:tr h="1659236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Not yet any data collected for the project.</a:t>
                      </a:r>
                    </a:p>
                    <a:p>
                      <a:pPr algn="l"/>
                      <a:r>
                        <a:rPr lang="en-US" sz="2000" dirty="0"/>
                        <a:t>All the above is literature-based as EDA and training cannot be done without charger telemetry.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270160"/>
                  </a:ext>
                </a:extLst>
              </a:tr>
              <a:tr h="1659236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Definition of target yet to be confirmed.</a:t>
                      </a:r>
                    </a:p>
                    <a:p>
                      <a:pPr algn="l"/>
                      <a:r>
                        <a:rPr lang="en-US" sz="2000" dirty="0"/>
                        <a:t>Remaining-time: Is it a row-by-row or overall session prediction? That is what makes the difference.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818110"/>
                  </a:ext>
                </a:extLst>
              </a:tr>
              <a:tr h="1659236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The metric threshold values are only for drafts.</a:t>
                      </a:r>
                    </a:p>
                    <a:p>
                      <a:pPr algn="l"/>
                      <a:r>
                        <a:rPr lang="en-US" sz="2000" dirty="0"/>
                        <a:t>The success criteria in Slide 2 are placeholder values based on literature sources only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94664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9120781-EFCF-880D-D41F-0350D6577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2700"/>
              </p:ext>
            </p:extLst>
          </p:nvPr>
        </p:nvGraphicFramePr>
        <p:xfrm>
          <a:off x="10515600" y="2468962"/>
          <a:ext cx="5049807" cy="6636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9807">
                  <a:extLst>
                    <a:ext uri="{9D8B030D-6E8A-4147-A177-3AD203B41FA5}">
                      <a16:colId xmlns:a16="http://schemas.microsoft.com/office/drawing/2014/main" val="1579982262"/>
                    </a:ext>
                  </a:extLst>
                </a:gridCol>
              </a:tblGrid>
              <a:tr h="1659236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/>
                        <a:t>NEXT PLAN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894289"/>
                  </a:ext>
                </a:extLst>
              </a:tr>
              <a:tr h="16592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Confirm target, dataset format, metrics, and scope with mentor (this meeting).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035763"/>
                  </a:ext>
                </a:extLst>
              </a:tr>
              <a:tr h="1659236">
                <a:tc>
                  <a:txBody>
                    <a:bodyPr/>
                    <a:lstStyle/>
                    <a:p>
                      <a:r>
                        <a:rPr lang="en-US" sz="2000" dirty="0"/>
                        <a:t>Obtain / get the verified database and perform the audit-clean phase.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270160"/>
                  </a:ext>
                </a:extLst>
              </a:tr>
              <a:tr h="1659236">
                <a:tc>
                  <a:txBody>
                    <a:bodyPr/>
                    <a:lstStyle/>
                    <a:p>
                      <a:r>
                        <a:rPr lang="en-US" sz="2000" dirty="0"/>
                        <a:t>Construct the linear baseline using a per-session split as the initial honest benchmark.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946641"/>
                  </a:ext>
                </a:extLst>
              </a:tr>
            </a:tbl>
          </a:graphicData>
        </a:graphic>
      </p:graphicFrame>
      <p:sp>
        <p:nvSpPr>
          <p:cNvPr id="12" name="TextBox 10">
            <a:extLst>
              <a:ext uri="{FF2B5EF4-FFF2-40B4-BE49-F238E27FC236}">
                <a16:creationId xmlns:a16="http://schemas.microsoft.com/office/drawing/2014/main" id="{F5873D5C-2A73-B0E9-9A52-7F216572EF03}"/>
              </a:ext>
            </a:extLst>
          </p:cNvPr>
          <p:cNvSpPr txBox="1"/>
          <p:nvPr/>
        </p:nvSpPr>
        <p:spPr>
          <a:xfrm>
            <a:off x="5638800" y="9676863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360</Words>
  <Application>Microsoft Office PowerPoint</Application>
  <PresentationFormat>Custom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Cambria</vt:lpstr>
      <vt:lpstr>Calibri</vt:lpstr>
      <vt:lpstr>Bookman Old Style</vt:lpstr>
      <vt:lpstr>Glacial Indifference</vt:lpstr>
      <vt:lpstr>Arial</vt:lpstr>
      <vt:lpstr>Candal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State of Charge Estimation &amp; Remaining Charging-Time Prediction</dc:title>
  <dc:creator>Niranjani Nair M.A</dc:creator>
  <cp:lastModifiedBy>Niranjani Nair M.A</cp:lastModifiedBy>
  <cp:revision>5</cp:revision>
  <dcterms:created xsi:type="dcterms:W3CDTF">2006-08-16T00:00:00Z</dcterms:created>
  <dcterms:modified xsi:type="dcterms:W3CDTF">2026-09-10T04:56:30Z</dcterms:modified>
  <dc:identifier>DAHSYW17pdY</dc:identifier>
</cp:coreProperties>
</file>