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1" r:id="rId4"/>
    <p:sldId id="262" r:id="rId5"/>
  </p:sldIdLst>
  <p:sldSz cx="18288000" cy="10287000"/>
  <p:notesSz cx="6858000" cy="9144000"/>
  <p:embeddedFontLst>
    <p:embeddedFont>
      <p:font typeface="Bookman Old Style" panose="02050604050505020204" pitchFamily="18" charset="0"/>
      <p:regular r:id="rId6"/>
      <p:bold r:id="rId7"/>
      <p:italic r:id="rId8"/>
      <p:boldItalic r:id="rId9"/>
    </p:embeddedFon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Candal" panose="020B0604020202020204" charset="0"/>
      <p:regular r:id="rId14"/>
    </p:embeddedFont>
    <p:embeddedFont>
      <p:font typeface="Glacial Indifferenc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82110" y="5181110"/>
            <a:ext cx="8154379" cy="8154379"/>
          </a:xfrm>
          <a:custGeom>
            <a:avLst/>
            <a:gdLst/>
            <a:ahLst/>
            <a:cxnLst/>
            <a:rect l="l" t="t" r="r" b="b"/>
            <a:pathLst>
              <a:path w="8154379" h="8154379">
                <a:moveTo>
                  <a:pt x="0" y="0"/>
                </a:moveTo>
                <a:lnTo>
                  <a:pt x="8154380" y="0"/>
                </a:lnTo>
                <a:lnTo>
                  <a:pt x="8154380" y="8154380"/>
                </a:lnTo>
                <a:lnTo>
                  <a:pt x="0" y="81543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964929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048490" y="-2973269"/>
            <a:ext cx="8154379" cy="8154379"/>
          </a:xfrm>
          <a:custGeom>
            <a:avLst/>
            <a:gdLst/>
            <a:ahLst/>
            <a:cxnLst/>
            <a:rect l="l" t="t" r="r" b="b"/>
            <a:pathLst>
              <a:path w="8154379" h="8154379">
                <a:moveTo>
                  <a:pt x="0" y="0"/>
                </a:moveTo>
                <a:lnTo>
                  <a:pt x="8154380" y="0"/>
                </a:lnTo>
                <a:lnTo>
                  <a:pt x="8154380" y="8154379"/>
                </a:lnTo>
                <a:lnTo>
                  <a:pt x="0" y="8154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225509" y="1249423"/>
            <a:ext cx="1350302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Battery SoC Estimation &amp; Remaining Charging-Time Prediction</a:t>
            </a:r>
            <a:endParaRPr lang="en-US" sz="4400" dirty="0"/>
          </a:p>
        </p:txBody>
      </p:sp>
      <p:sp>
        <p:nvSpPr>
          <p:cNvPr id="6" name="Freeform 6"/>
          <p:cNvSpPr/>
          <p:nvPr/>
        </p:nvSpPr>
        <p:spPr>
          <a:xfrm>
            <a:off x="-236144" y="-195501"/>
            <a:ext cx="4425558" cy="4425558"/>
          </a:xfrm>
          <a:custGeom>
            <a:avLst/>
            <a:gdLst/>
            <a:ahLst/>
            <a:cxnLst/>
            <a:rect l="l" t="t" r="r" b="b"/>
            <a:pathLst>
              <a:path w="4425558" h="4425558">
                <a:moveTo>
                  <a:pt x="0" y="0"/>
                </a:moveTo>
                <a:lnTo>
                  <a:pt x="4425558" y="0"/>
                </a:lnTo>
                <a:lnTo>
                  <a:pt x="4425558" y="4425558"/>
                </a:lnTo>
                <a:lnTo>
                  <a:pt x="0" y="44255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171741" y="6177516"/>
            <a:ext cx="4425558" cy="4425558"/>
          </a:xfrm>
          <a:custGeom>
            <a:avLst/>
            <a:gdLst/>
            <a:ahLst/>
            <a:cxnLst/>
            <a:rect l="l" t="t" r="r" b="b"/>
            <a:pathLst>
              <a:path w="4425558" h="4425558">
                <a:moveTo>
                  <a:pt x="4425558" y="4425559"/>
                </a:moveTo>
                <a:lnTo>
                  <a:pt x="0" y="4425559"/>
                </a:lnTo>
                <a:lnTo>
                  <a:pt x="0" y="0"/>
                </a:lnTo>
                <a:lnTo>
                  <a:pt x="4425558" y="0"/>
                </a:lnTo>
                <a:lnTo>
                  <a:pt x="4425558" y="442555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5233" y="8131414"/>
            <a:ext cx="7315200" cy="1923288"/>
          </a:xfrm>
          <a:custGeom>
            <a:avLst/>
            <a:gdLst/>
            <a:ahLst/>
            <a:cxnLst/>
            <a:rect l="l" t="t" r="r" b="b"/>
            <a:pathLst>
              <a:path w="7315200" h="1923288">
                <a:moveTo>
                  <a:pt x="0" y="0"/>
                </a:moveTo>
                <a:lnTo>
                  <a:pt x="7315200" y="0"/>
                </a:lnTo>
                <a:lnTo>
                  <a:pt x="7315200" y="1923288"/>
                </a:lnTo>
                <a:lnTo>
                  <a:pt x="0" y="1923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182110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3" y="0"/>
                </a:lnTo>
                <a:lnTo>
                  <a:pt x="4809083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407070" y="9544947"/>
            <a:ext cx="7999389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24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 A Niranjani Nair             Mentor: Vamsi Krishna</a:t>
            </a:r>
          </a:p>
        </p:txBody>
      </p:sp>
      <p:sp>
        <p:nvSpPr>
          <p:cNvPr id="11" name="Freeform 11"/>
          <p:cNvSpPr/>
          <p:nvPr/>
        </p:nvSpPr>
        <p:spPr>
          <a:xfrm>
            <a:off x="8073520" y="-728801"/>
            <a:ext cx="4809082" cy="1757501"/>
          </a:xfrm>
          <a:custGeom>
            <a:avLst/>
            <a:gdLst/>
            <a:ahLst/>
            <a:cxnLst/>
            <a:rect l="l" t="t" r="r" b="b"/>
            <a:pathLst>
              <a:path w="4809082" h="1757501">
                <a:moveTo>
                  <a:pt x="0" y="0"/>
                </a:moveTo>
                <a:lnTo>
                  <a:pt x="4809082" y="0"/>
                </a:lnTo>
                <a:lnTo>
                  <a:pt x="4809082" y="1757501"/>
                </a:lnTo>
                <a:lnTo>
                  <a:pt x="0" y="17575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00200" y="2734850"/>
            <a:ext cx="16390992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b="1" dirty="0">
                <a:latin typeface="Candal"/>
                <a:ea typeface="Candal"/>
                <a:cs typeface="Candal"/>
                <a:sym typeface="Candal"/>
              </a:rPr>
              <a:t>                  </a:t>
            </a:r>
            <a:r>
              <a:rPr lang="en-US" sz="2000" b="1" u="sng" dirty="0">
                <a:latin typeface="Candal"/>
                <a:ea typeface="Candal"/>
                <a:cs typeface="Candal"/>
                <a:sym typeface="Candal"/>
              </a:rPr>
              <a:t>LITERATURE, METHODOLOGY &amp; DATA-READINESS</a:t>
            </a:r>
          </a:p>
          <a:p>
            <a:endParaRPr lang="en-US" sz="2000" dirty="0">
              <a:latin typeface="Candal"/>
              <a:ea typeface="Candal"/>
              <a:cs typeface="Candal"/>
              <a:sym typeface="Candal"/>
            </a:endParaRPr>
          </a:p>
          <a:p>
            <a:endParaRPr lang="en-US" sz="2000" dirty="0">
              <a:latin typeface="Candal"/>
              <a:ea typeface="Candal"/>
              <a:cs typeface="Candal"/>
              <a:sym typeface="Candal"/>
            </a:endParaRPr>
          </a:p>
          <a:p>
            <a:endParaRPr lang="en-US" sz="2000" dirty="0">
              <a:latin typeface="Candal"/>
              <a:ea typeface="Candal"/>
              <a:cs typeface="Candal"/>
              <a:sym typeface="Candal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ndal"/>
                <a:ea typeface="Candal"/>
                <a:cs typeface="Candal"/>
                <a:sym typeface="Candal"/>
              </a:rPr>
              <a:t>Literature Review- 8 closely related studies reviewed (RF, </a:t>
            </a:r>
            <a:r>
              <a:rPr lang="en-US" sz="2000" dirty="0" err="1">
                <a:latin typeface="Candal"/>
                <a:ea typeface="Candal"/>
                <a:cs typeface="Candal"/>
                <a:sym typeface="Candal"/>
              </a:rPr>
              <a:t>XGBoost</a:t>
            </a:r>
            <a:r>
              <a:rPr lang="en-US" sz="2000" dirty="0">
                <a:latin typeface="Candal"/>
                <a:ea typeface="Candal"/>
                <a:cs typeface="Candal"/>
                <a:sym typeface="Candal"/>
              </a:rPr>
              <a:t>, fusion ensembles, LSTM) with a full data / approach / metrics / results /  limitation comparison table.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latin typeface="Candal"/>
              <a:ea typeface="Candal"/>
              <a:cs typeface="Candal"/>
              <a:sym typeface="Candal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ndal"/>
                <a:ea typeface="Candal"/>
                <a:cs typeface="Candal"/>
                <a:sym typeface="Candal"/>
              </a:rPr>
              <a:t>Dataset &amp; risk Checklist- Expected files, columns, targets and metadata defined; missing-data, annotation, imbalance, temporal and leakage risks logged with mitigations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latin typeface="Candal"/>
              <a:ea typeface="Candal"/>
              <a:cs typeface="Candal"/>
              <a:sym typeface="Candal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ndal"/>
                <a:ea typeface="Candal"/>
                <a:cs typeface="Candal"/>
                <a:sym typeface="Candal"/>
              </a:rPr>
              <a:t>Reproducible Pipeline &amp; Experiment Plan- Raw-to-evaluation flowchart, baseline/advanced/project-specific experiment design, and tentative evaluation of MAE/RMSE/R² criteria drafted.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>
              <a:latin typeface="Candal"/>
              <a:ea typeface="Candal"/>
              <a:cs typeface="Candal"/>
              <a:sym typeface="Candal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latin typeface="Candal"/>
                <a:ea typeface="Candal"/>
                <a:cs typeface="Candal"/>
                <a:sym typeface="Candal"/>
              </a:rPr>
              <a:t>Repository Scaffold &amp; Experiment Log- Folder structure, numbered notebooks, </a:t>
            </a:r>
            <a:r>
              <a:rPr lang="en-US" sz="2000" dirty="0" err="1">
                <a:latin typeface="Candal"/>
                <a:ea typeface="Candal"/>
                <a:cs typeface="Candal"/>
                <a:sym typeface="Candal"/>
              </a:rPr>
              <a:t>experiment_log</a:t>
            </a:r>
            <a:r>
              <a:rPr lang="en-US" sz="2000" dirty="0">
                <a:latin typeface="Candal"/>
                <a:ea typeface="Candal"/>
                <a:cs typeface="Candal"/>
                <a:sym typeface="Candal"/>
              </a:rPr>
              <a:t> template (xlsx + docx) and config scaffolding ready to receive the real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E1999C1-9C89-222D-2606-BBE7584DC552}"/>
              </a:ext>
            </a:extLst>
          </p:cNvPr>
          <p:cNvSpPr/>
          <p:nvPr/>
        </p:nvSpPr>
        <p:spPr>
          <a:xfrm>
            <a:off x="3816469" y="2019300"/>
            <a:ext cx="11926955" cy="109617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-209550" y="7119153"/>
            <a:ext cx="5115420" cy="5115420"/>
          </a:xfrm>
          <a:custGeom>
            <a:avLst/>
            <a:gdLst/>
            <a:ahLst/>
            <a:cxnLst/>
            <a:rect l="l" t="t" r="r" b="b"/>
            <a:pathLst>
              <a:path w="5115420" h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3022934" y="2418898"/>
            <a:ext cx="9608356" cy="4070449"/>
          </a:xfrm>
          <a:custGeom>
            <a:avLst/>
            <a:gdLst/>
            <a:ahLst/>
            <a:cxnLst/>
            <a:rect l="l" t="t" r="r" b="b"/>
            <a:pathLst>
              <a:path w="9608356" h="4070449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9510" y="-997475"/>
            <a:ext cx="3846149" cy="2692304"/>
          </a:xfrm>
          <a:custGeom>
            <a:avLst/>
            <a:gdLst/>
            <a:ahLst/>
            <a:cxnLst/>
            <a:rect l="l" t="t" r="r" b="b"/>
            <a:pathLst>
              <a:path w="3846149" h="2692304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85306" y="77728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905870" y="29576"/>
            <a:ext cx="8559438" cy="146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Pipeline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13162" y="4064362"/>
            <a:ext cx="12130262" cy="171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algn="just">
              <a:lnSpc>
                <a:spcPts val="3359"/>
              </a:lnSpc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Preprocessing – missing values are handled ,session level, metadata</a:t>
            </a:r>
          </a:p>
          <a:p>
            <a:pPr marL="259080" lvl="1" algn="just">
              <a:lnSpc>
                <a:spcPts val="3359"/>
              </a:lnSpc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Split – session level train/validation/test split by SoC</a:t>
            </a:r>
          </a:p>
          <a:p>
            <a:pPr marL="259080" lvl="1" algn="just">
              <a:lnSpc>
                <a:spcPts val="3359"/>
              </a:lnSpc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Modelling – Linear Baseline, Random Forest, </a:t>
            </a:r>
            <a:r>
              <a:rPr lang="en-US" sz="2400" dirty="0" err="1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XGBoost</a:t>
            </a: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 on identical </a:t>
            </a:r>
            <a:r>
              <a:rPr lang="en-US" sz="2400" dirty="0" err="1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splis</a:t>
            </a: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, ANN if  tress are underfitted.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E9688FC-500C-1188-DD3B-9C56544D6BD2}"/>
              </a:ext>
            </a:extLst>
          </p:cNvPr>
          <p:cNvSpPr txBox="1"/>
          <p:nvPr/>
        </p:nvSpPr>
        <p:spPr>
          <a:xfrm>
            <a:off x="5791200" y="9575386"/>
            <a:ext cx="7999389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24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 A Niranjani Nair             Mentor: Vamsi Krishna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9EFFAB-0184-F51F-EF1B-59DA371B0AB3}"/>
              </a:ext>
            </a:extLst>
          </p:cNvPr>
          <p:cNvSpPr txBox="1"/>
          <p:nvPr/>
        </p:nvSpPr>
        <p:spPr>
          <a:xfrm>
            <a:off x="3836347" y="2395019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Raw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178555-493F-372B-8864-75034CC8AC47}"/>
              </a:ext>
            </a:extLst>
          </p:cNvPr>
          <p:cNvSpPr txBox="1"/>
          <p:nvPr/>
        </p:nvSpPr>
        <p:spPr>
          <a:xfrm>
            <a:off x="5105400" y="2293732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Clean &amp; Audit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690FF-B228-67BB-BD54-60C253B2B2AA}"/>
              </a:ext>
            </a:extLst>
          </p:cNvPr>
          <p:cNvSpPr txBox="1"/>
          <p:nvPr/>
        </p:nvSpPr>
        <p:spPr>
          <a:xfrm>
            <a:off x="6653031" y="239501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EDA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D2BBE-B7BF-4859-8526-9E41C7E7E1C2}"/>
              </a:ext>
            </a:extLst>
          </p:cNvPr>
          <p:cNvSpPr txBox="1"/>
          <p:nvPr/>
        </p:nvSpPr>
        <p:spPr>
          <a:xfrm>
            <a:off x="7820659" y="2298702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Feature Prep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E192A6-9FE5-0F8C-1258-C74231A077A0}"/>
              </a:ext>
            </a:extLst>
          </p:cNvPr>
          <p:cNvSpPr txBox="1"/>
          <p:nvPr/>
        </p:nvSpPr>
        <p:spPr>
          <a:xfrm>
            <a:off x="10519353" y="2335071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Model Selection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95E6A-96ED-E7DC-2AE8-3A63DFCE7906}"/>
              </a:ext>
            </a:extLst>
          </p:cNvPr>
          <p:cNvSpPr txBox="1"/>
          <p:nvPr/>
        </p:nvSpPr>
        <p:spPr>
          <a:xfrm>
            <a:off x="9093183" y="2430502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Split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CA6BC7-09CA-4305-C702-C92B80BD0949}"/>
              </a:ext>
            </a:extLst>
          </p:cNvPr>
          <p:cNvSpPr txBox="1"/>
          <p:nvPr/>
        </p:nvSpPr>
        <p:spPr>
          <a:xfrm>
            <a:off x="12325958" y="2080795"/>
            <a:ext cx="137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Project Specific Experiment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92F9DF-7E8C-8483-1DE3-88600BA157D7}"/>
              </a:ext>
            </a:extLst>
          </p:cNvPr>
          <p:cNvSpPr txBox="1"/>
          <p:nvPr/>
        </p:nvSpPr>
        <p:spPr>
          <a:xfrm>
            <a:off x="14092407" y="2335071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Final evaluation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8B4CB14-4A5B-5E80-2231-5EC62D04CDA7}"/>
              </a:ext>
            </a:extLst>
          </p:cNvPr>
          <p:cNvSpPr/>
          <p:nvPr/>
        </p:nvSpPr>
        <p:spPr>
          <a:xfrm>
            <a:off x="4912050" y="2410130"/>
            <a:ext cx="469034" cy="397603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E662FA44-C5B4-E8F3-521B-AD13BF24DF96}"/>
              </a:ext>
            </a:extLst>
          </p:cNvPr>
          <p:cNvSpPr/>
          <p:nvPr/>
        </p:nvSpPr>
        <p:spPr>
          <a:xfrm>
            <a:off x="6260369" y="2413755"/>
            <a:ext cx="575532" cy="397603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D1B725F-CE1F-B5EC-99B9-75E06118DB69}"/>
              </a:ext>
            </a:extLst>
          </p:cNvPr>
          <p:cNvSpPr/>
          <p:nvPr/>
        </p:nvSpPr>
        <p:spPr>
          <a:xfrm>
            <a:off x="7461758" y="2410129"/>
            <a:ext cx="642741" cy="397603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5B60473A-D318-C93B-A0D7-2A24BB20B99E}"/>
              </a:ext>
            </a:extLst>
          </p:cNvPr>
          <p:cNvSpPr/>
          <p:nvPr/>
        </p:nvSpPr>
        <p:spPr>
          <a:xfrm>
            <a:off x="8906555" y="2400957"/>
            <a:ext cx="614644" cy="415946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63AA5E28-39F8-B8F3-F453-9DBE217D485B}"/>
              </a:ext>
            </a:extLst>
          </p:cNvPr>
          <p:cNvSpPr/>
          <p:nvPr/>
        </p:nvSpPr>
        <p:spPr>
          <a:xfrm>
            <a:off x="10079859" y="2410129"/>
            <a:ext cx="656195" cy="43264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9510A74E-8C69-E7C4-F4B8-332448B13513}"/>
              </a:ext>
            </a:extLst>
          </p:cNvPr>
          <p:cNvSpPr/>
          <p:nvPr/>
        </p:nvSpPr>
        <p:spPr>
          <a:xfrm>
            <a:off x="11779557" y="2400957"/>
            <a:ext cx="546401" cy="415946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612CBE58-6B69-FB5E-A57A-09C39B8E11BC}"/>
              </a:ext>
            </a:extLst>
          </p:cNvPr>
          <p:cNvSpPr/>
          <p:nvPr/>
        </p:nvSpPr>
        <p:spPr>
          <a:xfrm>
            <a:off x="13646542" y="2431429"/>
            <a:ext cx="576249" cy="41134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10">
            <a:extLst>
              <a:ext uri="{FF2B5EF4-FFF2-40B4-BE49-F238E27FC236}">
                <a16:creationId xmlns:a16="http://schemas.microsoft.com/office/drawing/2014/main" id="{DCD1DB54-B22F-BD27-77FA-660862DE4E60}"/>
              </a:ext>
            </a:extLst>
          </p:cNvPr>
          <p:cNvSpPr txBox="1"/>
          <p:nvPr/>
        </p:nvSpPr>
        <p:spPr>
          <a:xfrm>
            <a:off x="3613162" y="6323310"/>
            <a:ext cx="12130262" cy="127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algn="just">
              <a:lnSpc>
                <a:spcPts val="3359"/>
              </a:lnSpc>
            </a:pPr>
            <a:r>
              <a:rPr lang="en-US" sz="2400" u="sng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Project Specific Experiment</a:t>
            </a:r>
          </a:p>
          <a:p>
            <a:pPr marL="259080" lvl="1" algn="just">
              <a:lnSpc>
                <a:spcPts val="3359"/>
              </a:lnSpc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Target wise feature importance and error analysis by charging phase and SoC band, it gives us why the model fails.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557710" y="7119153"/>
            <a:ext cx="5115420" cy="5115420"/>
          </a:xfrm>
          <a:custGeom>
            <a:avLst/>
            <a:gdLst/>
            <a:ahLst/>
            <a:cxnLst/>
            <a:rect l="l" t="t" r="r" b="b"/>
            <a:pathLst>
              <a:path w="5115420" h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3950532" y="2418898"/>
            <a:ext cx="9608356" cy="4070449"/>
          </a:xfrm>
          <a:custGeom>
            <a:avLst/>
            <a:gdLst/>
            <a:ahLst/>
            <a:cxnLst/>
            <a:rect l="l" t="t" r="r" b="b"/>
            <a:pathLst>
              <a:path w="9608356" h="4070449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219510" y="-997475"/>
            <a:ext cx="3846149" cy="2692304"/>
          </a:xfrm>
          <a:custGeom>
            <a:avLst/>
            <a:gdLst/>
            <a:ahLst/>
            <a:cxnLst/>
            <a:rect l="l" t="t" r="r" b="b"/>
            <a:pathLst>
              <a:path w="3846149" h="2692304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057400" y="761946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69348" y="332918"/>
            <a:ext cx="11749304" cy="1346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0"/>
              </a:lnSpc>
            </a:pPr>
            <a:r>
              <a:rPr lang="en-US" sz="5400" b="1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Proposed Evaluation Plan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5873D5C-2A73-B0E9-9A52-7F216572EF03}"/>
              </a:ext>
            </a:extLst>
          </p:cNvPr>
          <p:cNvSpPr txBox="1"/>
          <p:nvPr/>
        </p:nvSpPr>
        <p:spPr>
          <a:xfrm>
            <a:off x="5638800" y="9676863"/>
            <a:ext cx="7999389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24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 A Niranjani Nair             Mentor: Vamsi Krishna</a:t>
            </a: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15BE1D8A-AD36-9C12-5079-74F25F2087B0}"/>
              </a:ext>
            </a:extLst>
          </p:cNvPr>
          <p:cNvSpPr txBox="1"/>
          <p:nvPr/>
        </p:nvSpPr>
        <p:spPr>
          <a:xfrm>
            <a:off x="3764692" y="5753100"/>
            <a:ext cx="12130262" cy="3024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1980" lvl="1" indent="-342900" algn="just">
              <a:lnSpc>
                <a:spcPts val="3359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We also did a little research on our own by reading 8 similar studies to find out the level of accuracy achieved by others through similar methodologies.</a:t>
            </a:r>
          </a:p>
          <a:p>
            <a:pPr marL="601980" lvl="1" indent="-342900" algn="just">
              <a:lnSpc>
                <a:spcPts val="3359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For context, the existing system was off by about 3-5%. We decided that getting within 2% would be very good but achievable.</a:t>
            </a:r>
          </a:p>
          <a:p>
            <a:pPr marL="601980" lvl="1" indent="-342900" algn="just">
              <a:lnSpc>
                <a:spcPts val="3359"/>
              </a:lnSpc>
              <a:buFont typeface="Courier New" panose="02070309020205020404" pitchFamily="49" charset="0"/>
              <a:buChar char="o"/>
            </a:pPr>
            <a:r>
              <a:rPr lang="en-US" sz="2400" dirty="0"/>
              <a:t>Though some studies have managed to produce ‘near perfect’ results by employing much larger datasets or additional techniques which aren’t available yet, we decided to use more modest figures instead.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AD26E65-6868-A72B-5A05-567F68CB35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296207"/>
              </p:ext>
            </p:extLst>
          </p:nvPr>
        </p:nvGraphicFramePr>
        <p:xfrm>
          <a:off x="3604232" y="2713811"/>
          <a:ext cx="12229294" cy="232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4647">
                  <a:extLst>
                    <a:ext uri="{9D8B030D-6E8A-4147-A177-3AD203B41FA5}">
                      <a16:colId xmlns:a16="http://schemas.microsoft.com/office/drawing/2014/main" val="1261292058"/>
                    </a:ext>
                  </a:extLst>
                </a:gridCol>
                <a:gridCol w="6114647">
                  <a:extLst>
                    <a:ext uri="{9D8B030D-6E8A-4147-A177-3AD203B41FA5}">
                      <a16:colId xmlns:a16="http://schemas.microsoft.com/office/drawing/2014/main" val="3632688180"/>
                    </a:ext>
                  </a:extLst>
                </a:gridCol>
              </a:tblGrid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REMAINING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4333402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MAE -&gt;  &lt;=2%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MAE -&gt;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630331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RMSE -&gt; &lt;=2.5%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042883"/>
                  </a:ext>
                </a:extLst>
              </a:tr>
              <a:tr h="58039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SoC -&gt; 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7048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DD97-D9E5-4440-8234-473DAF56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6B2AFF-B249-AFB2-F072-96055E41000C}"/>
              </a:ext>
            </a:extLst>
          </p:cNvPr>
          <p:cNvSpPr/>
          <p:nvPr/>
        </p:nvSpPr>
        <p:spPr>
          <a:xfrm>
            <a:off x="-209550" y="7119153"/>
            <a:ext cx="5115420" cy="5115420"/>
          </a:xfrm>
          <a:custGeom>
            <a:avLst/>
            <a:gdLst/>
            <a:ahLst/>
            <a:cxnLst/>
            <a:rect l="l" t="t" r="r" b="b"/>
            <a:pathLst>
              <a:path w="5115420" h="5115420">
                <a:moveTo>
                  <a:pt x="0" y="0"/>
                </a:moveTo>
                <a:lnTo>
                  <a:pt x="5115420" y="0"/>
                </a:lnTo>
                <a:lnTo>
                  <a:pt x="5115420" y="5115420"/>
                </a:lnTo>
                <a:lnTo>
                  <a:pt x="0" y="5115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02583E7-95F5-1E98-AFF2-E6227F7E5B42}"/>
              </a:ext>
            </a:extLst>
          </p:cNvPr>
          <p:cNvSpPr/>
          <p:nvPr/>
        </p:nvSpPr>
        <p:spPr>
          <a:xfrm rot="5400000">
            <a:off x="-3022934" y="2418898"/>
            <a:ext cx="9608356" cy="4070449"/>
          </a:xfrm>
          <a:custGeom>
            <a:avLst/>
            <a:gdLst/>
            <a:ahLst/>
            <a:cxnLst/>
            <a:rect l="l" t="t" r="r" b="b"/>
            <a:pathLst>
              <a:path w="9608356" h="4070449">
                <a:moveTo>
                  <a:pt x="0" y="0"/>
                </a:moveTo>
                <a:lnTo>
                  <a:pt x="9608356" y="0"/>
                </a:lnTo>
                <a:lnTo>
                  <a:pt x="9608356" y="4070449"/>
                </a:lnTo>
                <a:lnTo>
                  <a:pt x="0" y="40704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1EEECCE-8259-9D57-1E06-17CC7E04A21B}"/>
              </a:ext>
            </a:extLst>
          </p:cNvPr>
          <p:cNvSpPr/>
          <p:nvPr/>
        </p:nvSpPr>
        <p:spPr>
          <a:xfrm>
            <a:off x="14219510" y="-997475"/>
            <a:ext cx="3846149" cy="2692304"/>
          </a:xfrm>
          <a:custGeom>
            <a:avLst/>
            <a:gdLst/>
            <a:ahLst/>
            <a:cxnLst/>
            <a:rect l="l" t="t" r="r" b="b"/>
            <a:pathLst>
              <a:path w="3846149" h="2692304">
                <a:moveTo>
                  <a:pt x="0" y="0"/>
                </a:moveTo>
                <a:lnTo>
                  <a:pt x="3846149" y="0"/>
                </a:lnTo>
                <a:lnTo>
                  <a:pt x="3846149" y="2692304"/>
                </a:lnTo>
                <a:lnTo>
                  <a:pt x="0" y="2692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F8908B2-B69F-0DFC-D93B-DF9D5C3E87A5}"/>
              </a:ext>
            </a:extLst>
          </p:cNvPr>
          <p:cNvSpPr/>
          <p:nvPr/>
        </p:nvSpPr>
        <p:spPr>
          <a:xfrm>
            <a:off x="185306" y="77728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2D3350C-8E45-A7AF-134F-1950B49D1536}"/>
              </a:ext>
            </a:extLst>
          </p:cNvPr>
          <p:cNvSpPr txBox="1"/>
          <p:nvPr/>
        </p:nvSpPr>
        <p:spPr>
          <a:xfrm>
            <a:off x="4929933" y="964404"/>
            <a:ext cx="8559438" cy="1460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6600" dirty="0">
                <a:solidFill>
                  <a:srgbClr val="343434"/>
                </a:solidFill>
                <a:latin typeface="Candal"/>
                <a:ea typeface="Candal"/>
                <a:cs typeface="Candal"/>
                <a:sym typeface="Candal"/>
              </a:rPr>
              <a:t>SPLIT STRATEGY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05F18B6-CC6F-8FB5-50FA-729F9945A924}"/>
              </a:ext>
            </a:extLst>
          </p:cNvPr>
          <p:cNvSpPr txBox="1"/>
          <p:nvPr/>
        </p:nvSpPr>
        <p:spPr>
          <a:xfrm>
            <a:off x="4300106" y="3712082"/>
            <a:ext cx="12130262" cy="4327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1980" lvl="1" indent="-342900" algn="just">
              <a:lnSpc>
                <a:spcPts val="3359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Split at session level, whole session stays entirely within the </a:t>
            </a:r>
            <a:r>
              <a:rPr lang="en-US" sz="2400" dirty="0" err="1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train,validation</a:t>
            </a: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 &amp; test</a:t>
            </a:r>
          </a:p>
          <a:p>
            <a:pPr marL="601980" lvl="1" indent="-342900" algn="just">
              <a:lnSpc>
                <a:spcPts val="3359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This is in addition to ensuring that both training, validation, and test data sets have a variety of conditions (e.g., sessions close to 0% and 100% battery), rather than only the easy sessions within the 20%-80% range, to avoid achieving an artificially high score.</a:t>
            </a:r>
          </a:p>
          <a:p>
            <a:pPr marL="601980" lvl="1" indent="-342900" algn="just">
              <a:lnSpc>
                <a:spcPts val="3359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However, we may test on future sessions and train on past sessions should the battery change with age.</a:t>
            </a:r>
          </a:p>
          <a:p>
            <a:pPr marL="601980" lvl="1" indent="-342900" algn="just">
              <a:lnSpc>
                <a:spcPts val="3359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343434"/>
                </a:solidFill>
                <a:latin typeface="Bookman Old Style" panose="02050604050505020204" pitchFamily="18" charset="0"/>
                <a:ea typeface="Glacial Indifference"/>
                <a:cs typeface="Glacial Indifference"/>
                <a:sym typeface="Glacial Indifference"/>
              </a:rPr>
              <a:t>Regardless of what split is used, it will be set in stone, meaning that it will remain the same for all subsequent runs without having to randomize again.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3E1E961E-2CE9-4052-F225-30DF5ABED208}"/>
              </a:ext>
            </a:extLst>
          </p:cNvPr>
          <p:cNvSpPr txBox="1"/>
          <p:nvPr/>
        </p:nvSpPr>
        <p:spPr>
          <a:xfrm>
            <a:off x="5791200" y="9575386"/>
            <a:ext cx="7999389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02"/>
              </a:lnSpc>
            </a:pPr>
            <a:r>
              <a:rPr lang="en-US" sz="2400" dirty="0">
                <a:solidFill>
                  <a:srgbClr val="34343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 A Niranjani Nair             Mentor: Vamsi Krishna</a:t>
            </a:r>
          </a:p>
        </p:txBody>
      </p:sp>
    </p:spTree>
    <p:extLst>
      <p:ext uri="{BB962C8B-B14F-4D97-AF65-F5344CB8AC3E}">
        <p14:creationId xmlns:p14="http://schemas.microsoft.com/office/powerpoint/2010/main" val="260851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5805</TotalTime>
  <Words>481</Words>
  <Application>Microsoft Office PowerPoint</Application>
  <PresentationFormat>Custom</PresentationFormat>
  <Paragraphs>45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Glacial Indifference</vt:lpstr>
      <vt:lpstr>Cambria</vt:lpstr>
      <vt:lpstr>Calibri</vt:lpstr>
      <vt:lpstr>Bookman Old Style</vt:lpstr>
      <vt:lpstr>Wingdings</vt:lpstr>
      <vt:lpstr>Arial</vt:lpstr>
      <vt:lpstr>Candal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State of Charge Estimation &amp; Remaining Charging-Time Prediction</dc:title>
  <dc:creator>Niranjani Nair M.A</dc:creator>
  <cp:lastModifiedBy>Niranjani Nair M.A</cp:lastModifiedBy>
  <cp:revision>7</cp:revision>
  <dcterms:created xsi:type="dcterms:W3CDTF">2006-08-16T00:00:00Z</dcterms:created>
  <dcterms:modified xsi:type="dcterms:W3CDTF">2026-09-13T03:17:50Z</dcterms:modified>
  <dc:identifier>DAHSYW17pdY</dc:identifier>
</cp:coreProperties>
</file>