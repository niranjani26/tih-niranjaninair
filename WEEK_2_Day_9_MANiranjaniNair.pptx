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7B0C37-81EF-64DA-841A-E431F584BDD1}"/>
              </a:ext>
            </a:extLst>
          </p:cNvPr>
          <p:cNvSpPr txBox="1"/>
          <p:nvPr/>
        </p:nvSpPr>
        <p:spPr>
          <a:xfrm>
            <a:off x="548640" y="365760"/>
            <a:ext cx="110944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  <a:latin typeface="Calibri"/>
              </a:defRPr>
            </a:pPr>
            <a:r>
              <a:rPr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Data Quality Audit &amp; Representative Anomalies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4BDEB3-A86A-F507-91F6-40C99471D096}"/>
              </a:ext>
            </a:extLst>
          </p:cNvPr>
          <p:cNvSpPr txBox="1"/>
          <p:nvPr/>
        </p:nvSpPr>
        <p:spPr>
          <a:xfrm>
            <a:off x="814967" y="1229485"/>
            <a:ext cx="1056176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DATA QUALITY AUDIT</a:t>
            </a:r>
          </a:p>
          <a:p>
            <a:pPr marL="171450" indent="-171450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Dataset Scope: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4,954,917 rows across 208 CSV files (-20°C to 40°C thermal chambers).</a:t>
            </a:r>
          </a:p>
          <a:p>
            <a:pPr marL="171450" indent="-171450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Missing Values: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19 total 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NaNs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 (3.83 × 10⁻⁶%) exclusively in 10degC/582_LA92.csv at mid-file indices 1491–1944.</a:t>
            </a:r>
          </a:p>
          <a:p>
            <a:pPr marL="171450" indent="-171450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Duplicate Rows: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5,876 duplicate rows (0.119%) accumulated during rest pause steps (Status = PAU).</a:t>
            </a:r>
          </a:p>
          <a:p>
            <a:pPr marL="171450" indent="-171450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0.000V Dropouts: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3 single-sample 0.000V drops in 0degC/590_Charge16, 25degC/552_Charge16, 40degC/557_Charge10.</a:t>
            </a:r>
          </a:p>
          <a:p>
            <a:pPr marL="171450" indent="-171450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Timestamp Range: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Oct 25 to Dec 26, 2018. 4 non-monotonic timestamp jumps in 582_LA92.csv.</a:t>
            </a:r>
          </a:p>
          <a:p>
            <a:pPr marL="171450" indent="-171450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Status Codes: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5 unique codes: CHA, DCH (Discharge), PAU, STO, TABLE.</a:t>
            </a:r>
          </a:p>
          <a:p>
            <a:pPr marL="171450" indent="-171450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Procedure Schema: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6 generic script names in row CSV; drive cycle name (UDDS, LA92) is in header Test field.</a:t>
            </a:r>
          </a:p>
          <a:p>
            <a:pPr marL="171450" indent="-171450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Sampling Rates: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0.1s uniform on TABLE steps vs ~60s on Charge steps.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E1D40F-4E06-14CC-0FEF-43BDD644DA71}"/>
              </a:ext>
            </a:extLst>
          </p:cNvPr>
          <p:cNvSpPr txBox="1"/>
          <p:nvPr/>
        </p:nvSpPr>
        <p:spPr>
          <a:xfrm>
            <a:off x="814967" y="4058855"/>
            <a:ext cx="99556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262626"/>
                </a:solidFill>
                <a:latin typeface="Calibri"/>
              </a:defRPr>
            </a:pPr>
            <a:r>
              <a:rPr lang="en-US" sz="1600" b="1" dirty="0">
                <a:latin typeface="Bookman Old Style" panose="02050604050505020204" pitchFamily="18" charset="0"/>
              </a:rPr>
              <a:t>ANOMALIES</a:t>
            </a:r>
          </a:p>
          <a:p>
            <a:pPr marL="285750" indent="-285750">
              <a:buFont typeface="Wingdings" panose="05000000000000000000" pitchFamily="2" charset="2"/>
              <a:buChar char="q"/>
              <a:defRPr sz="800">
                <a:solidFill>
                  <a:srgbClr val="262626"/>
                </a:solidFill>
                <a:latin typeface="Calibri"/>
              </a:defRPr>
            </a:pPr>
            <a:r>
              <a:rPr lang="en-US" sz="1600" dirty="0">
                <a:latin typeface="Bookman Old Style" panose="02050604050505020204" pitchFamily="18" charset="0"/>
              </a:rPr>
              <a:t>Mid-File </a:t>
            </a:r>
            <a:r>
              <a:rPr lang="en-US" sz="1600" dirty="0" err="1">
                <a:latin typeface="Bookman Old Style" panose="02050604050505020204" pitchFamily="18" charset="0"/>
              </a:rPr>
              <a:t>NaNs</a:t>
            </a:r>
            <a:r>
              <a:rPr lang="en-US" sz="1600" dirty="0">
                <a:latin typeface="Bookman Old Style" panose="02050604050505020204" pitchFamily="18" charset="0"/>
              </a:rPr>
              <a:t>  Sensors drop out mid-file during dynamic test step.</a:t>
            </a:r>
          </a:p>
          <a:p>
            <a:pPr marL="285750" indent="-285750">
              <a:buFont typeface="Wingdings" panose="05000000000000000000" pitchFamily="2" charset="2"/>
              <a:buChar char="q"/>
              <a:defRPr sz="800">
                <a:solidFill>
                  <a:srgbClr val="262626"/>
                </a:solidFill>
                <a:latin typeface="Calibri"/>
              </a:defRPr>
            </a:pPr>
            <a:r>
              <a:rPr lang="en-US" sz="1600" dirty="0">
                <a:latin typeface="Bookman Old Style" panose="02050604050505020204" pitchFamily="18" charset="0"/>
              </a:rPr>
              <a:t>Transient 0V Drop    Single-frame hardware digital dropout to 0.000V.</a:t>
            </a:r>
          </a:p>
          <a:p>
            <a:pPr marL="285750" indent="-285750">
              <a:buFont typeface="Wingdings" panose="05000000000000000000" pitchFamily="2" charset="2"/>
              <a:buChar char="q"/>
              <a:defRPr sz="800">
                <a:solidFill>
                  <a:srgbClr val="262626"/>
                </a:solidFill>
                <a:latin typeface="Calibri"/>
              </a:defRPr>
            </a:pPr>
            <a:r>
              <a:rPr lang="en-US" sz="1600" dirty="0">
                <a:latin typeface="Bookman Old Style" panose="02050604050505020204" pitchFamily="18" charset="0"/>
              </a:rPr>
              <a:t>Out-of-Order Timestamp  </a:t>
            </a:r>
            <a:r>
              <a:rPr lang="en-US" sz="1600" dirty="0" err="1">
                <a:latin typeface="Bookman Old Style" panose="02050604050505020204" pitchFamily="18" charset="0"/>
              </a:rPr>
              <a:t>Timestamp</a:t>
            </a:r>
            <a:r>
              <a:rPr lang="en-US" sz="1600" dirty="0">
                <a:latin typeface="Bookman Old Style" panose="02050604050505020204" pitchFamily="18" charset="0"/>
              </a:rPr>
              <a:t> jumps backward by 2 seconds out of order.</a:t>
            </a:r>
          </a:p>
          <a:p>
            <a:pPr marL="285750" indent="-285750">
              <a:buFont typeface="Wingdings" panose="05000000000000000000" pitchFamily="2" charset="2"/>
              <a:buChar char="q"/>
              <a:defRPr sz="800">
                <a:solidFill>
                  <a:srgbClr val="262626"/>
                </a:solidFill>
                <a:latin typeface="Calibri"/>
              </a:defRPr>
            </a:pPr>
            <a:r>
              <a:rPr lang="en-US" sz="1600" dirty="0">
                <a:latin typeface="Bookman Old Style" panose="02050604050505020204" pitchFamily="18" charset="0"/>
              </a:rPr>
              <a:t>Pause Duplicate Rows   Back-to-back duplicate readings during rest step.</a:t>
            </a:r>
          </a:p>
          <a:p>
            <a:pPr marL="285750" indent="-285750">
              <a:buFont typeface="Wingdings" panose="05000000000000000000" pitchFamily="2" charset="2"/>
              <a:buChar char="q"/>
              <a:defRPr sz="800">
                <a:solidFill>
                  <a:srgbClr val="262626"/>
                </a:solidFill>
                <a:latin typeface="Calibri"/>
              </a:defRPr>
            </a:pPr>
            <a:endParaRPr lang="en-US" sz="1600" dirty="0">
              <a:latin typeface="Bookman Old Style" panose="0205060405050502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3C731E-46B5-9961-E744-A842B50FD6BA}"/>
              </a:ext>
            </a:extLst>
          </p:cNvPr>
          <p:cNvSpPr txBox="1"/>
          <p:nvPr/>
        </p:nvSpPr>
        <p:spPr>
          <a:xfrm>
            <a:off x="668216" y="6310775"/>
            <a:ext cx="30700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ookman Old Style" panose="02050604050505020204" pitchFamily="18" charset="0"/>
              </a:rPr>
              <a:t>Name: M A NIRANJANI NAIR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59E753-053D-70C3-99C0-E391E8DBCFE7}"/>
              </a:ext>
            </a:extLst>
          </p:cNvPr>
          <p:cNvSpPr txBox="1"/>
          <p:nvPr/>
        </p:nvSpPr>
        <p:spPr>
          <a:xfrm>
            <a:off x="9100038" y="6307574"/>
            <a:ext cx="28793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ookman Old Style" panose="02050604050505020204" pitchFamily="18" charset="0"/>
              </a:rPr>
              <a:t>MENTOR:VAMSI KRISHNA</a:t>
            </a:r>
          </a:p>
        </p:txBody>
      </p:sp>
    </p:spTree>
    <p:extLst>
      <p:ext uri="{BB962C8B-B14F-4D97-AF65-F5344CB8AC3E}">
        <p14:creationId xmlns:p14="http://schemas.microsoft.com/office/powerpoint/2010/main" val="2479218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Proposed Cleaning Rules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08FE9-90FD-F0E2-9946-026CB13A7C33}"/>
              </a:ext>
            </a:extLst>
          </p:cNvPr>
          <p:cNvSpPr txBox="1"/>
          <p:nvPr/>
        </p:nvSpPr>
        <p:spPr>
          <a:xfrm>
            <a:off x="354470" y="704314"/>
            <a:ext cx="11482753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600" kern="100" dirty="0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Duplicate row deduplication: Remove the 5,876 exact duplicate rows occurring during PAU. Duplicate rows during rest steps over-represent zero-current equilibrium states without adding new dynamic information.</a:t>
            </a:r>
            <a:endParaRPr lang="en-US" sz="1600" kern="1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600" kern="100" dirty="0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Mid-File missing value Imputation: Apply linear for the 19 </a:t>
            </a:r>
            <a:r>
              <a:rPr lang="en-US" sz="1600" kern="100" dirty="0" err="1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NaN</a:t>
            </a:r>
            <a:r>
              <a:rPr lang="en-US" sz="1600" kern="100" dirty="0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 entries at indices 1491-1944 in 582_LA92.csv.Voltage, current, and temperature are continuous physical quantities. Mid-file linear interpolation restores smooth time-series continuity.</a:t>
            </a:r>
            <a:endParaRPr lang="en-US" sz="1600" kern="1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600" kern="100" dirty="0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Timestamp &amp; Sorting: Sort rows by Time Stamp in 582_LA92.csv to fix the 4 out-of-order timestamp entries, then re-compute </a:t>
            </a:r>
            <a:r>
              <a:rPr lang="en-US" sz="1600" kern="100" dirty="0" err="1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Δt</a:t>
            </a:r>
            <a:r>
              <a:rPr lang="en-US" sz="1600" kern="100" dirty="0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. Out-of-order timestamps break trapezoidal integration for Coulomb counting and time-derivatives of voltage and current (</a:t>
            </a:r>
            <a:r>
              <a:rPr lang="en-US" sz="1600" kern="100" dirty="0" err="1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dV</a:t>
            </a:r>
            <a:r>
              <a:rPr lang="en-US" sz="1600" kern="100" dirty="0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/dt, </a:t>
            </a:r>
            <a:r>
              <a:rPr lang="en-US" sz="1600" kern="100" dirty="0" err="1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dI</a:t>
            </a:r>
            <a:r>
              <a:rPr lang="en-US" sz="1600" kern="100" dirty="0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/dt).</a:t>
            </a:r>
            <a:endParaRPr lang="en-US" sz="1600" kern="1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600" kern="100" dirty="0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Replace single-sample 0.000V drops in 0degC/590_Charge16, 25degC/552_Charge16, and 40degC/557_Charge10 with linear interpolation bounded by [2.000V, 4.250V]. Terminal voltage cannot drop instantaneously to 0.000V and recover to &gt;4.0V in 0.1s. These are hardware sensor acquisition dropouts.</a:t>
            </a:r>
            <a:endParaRPr lang="en-US" sz="1600" kern="1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600" kern="100" dirty="0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Uniform Time Grid Resampling: Resample dynamic profiles to a uniform 0.1s time grid (</a:t>
            </a:r>
            <a:r>
              <a:rPr lang="en-US" sz="1600" kern="100" dirty="0" err="1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Δt</a:t>
            </a:r>
            <a:r>
              <a:rPr lang="en-US" sz="1600" kern="100" dirty="0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 = 0.1s) and charging profiles to 1.0s or 60.0s uniform grid using linear interpolation for V, I, T and zero-order hold for Status. Standardizes sampling intervals across dynamic and charging profiles for machine learning architectures (LSTM, CNN-LSTM).</a:t>
            </a:r>
            <a:endParaRPr lang="en-US" sz="1600" kern="1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600" kern="100" dirty="0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Target accumulation exclusion: Exclude Capacity and </a:t>
            </a:r>
            <a:r>
              <a:rPr lang="en-US" sz="1600" kern="100" dirty="0" err="1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WhAccu</a:t>
            </a:r>
            <a:r>
              <a:rPr lang="en-US" sz="1600" kern="100" dirty="0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 from input feature space. Use instantaneous V(t), I(t), T(t) and causal lagged features (Vt-k, It-k, Tt-k, </a:t>
            </a:r>
            <a:r>
              <a:rPr lang="en-US" sz="1600" kern="100" dirty="0" err="1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dV</a:t>
            </a:r>
            <a:r>
              <a:rPr lang="en-US" sz="1600" kern="100" dirty="0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/dt, </a:t>
            </a:r>
            <a:r>
              <a:rPr lang="en-US" sz="1600" kern="100" dirty="0" err="1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dI</a:t>
            </a:r>
            <a:r>
              <a:rPr lang="en-US" sz="1600" kern="100" dirty="0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/dt, dT/dt). Prevents target leakage from cumulative cycler Ah/</a:t>
            </a:r>
            <a:r>
              <a:rPr lang="en-US" sz="1600" kern="100" dirty="0" err="1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Wh</a:t>
            </a:r>
            <a:r>
              <a:rPr lang="en-US" sz="1600" kern="100" dirty="0"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Kartika" panose="02020503030404060203" pitchFamily="18" charset="0"/>
              </a:rPr>
              <a:t> integrals, ensuring model generalization to real-world embedded BMS applications.</a:t>
            </a:r>
            <a:endParaRPr lang="en-US" sz="1100" kern="1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3371EE-E66E-F7D3-9183-C1C6CFD61397}"/>
              </a:ext>
            </a:extLst>
          </p:cNvPr>
          <p:cNvSpPr txBox="1"/>
          <p:nvPr/>
        </p:nvSpPr>
        <p:spPr>
          <a:xfrm>
            <a:off x="668216" y="6310775"/>
            <a:ext cx="30700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ookman Old Style" panose="02050604050505020204" pitchFamily="18" charset="0"/>
              </a:rPr>
              <a:t>Name: M A NIRANJANI NAIR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11C2A-C502-7D02-9E94-2B54959158B6}"/>
              </a:ext>
            </a:extLst>
          </p:cNvPr>
          <p:cNvSpPr txBox="1"/>
          <p:nvPr/>
        </p:nvSpPr>
        <p:spPr>
          <a:xfrm>
            <a:off x="9100038" y="6307574"/>
            <a:ext cx="28793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ookman Old Style" panose="02050604050505020204" pitchFamily="18" charset="0"/>
              </a:rPr>
              <a:t>MENTOR:VAMSI KRISHNA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Split Logic &amp;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Cleaning Plan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56109C-DACE-5C80-A6C9-426860C75DF2}"/>
              </a:ext>
            </a:extLst>
          </p:cNvPr>
          <p:cNvSpPr txBox="1"/>
          <p:nvPr/>
        </p:nvSpPr>
        <p:spPr>
          <a:xfrm>
            <a:off x="800100" y="1454866"/>
            <a:ext cx="11094415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dirty="0">
                <a:latin typeface="Bookman Old Style" panose="02050604050505020204" pitchFamily="18" charset="0"/>
              </a:rPr>
              <a:t>Dataset partitioning and leakage prevention: </a:t>
            </a:r>
            <a:r>
              <a:rPr lang="en-US" sz="1400" dirty="0">
                <a:latin typeface="Bookman Old Style" panose="02050604050505020204" pitchFamily="18" charset="0"/>
              </a:rPr>
              <a:t>To ensure that models are well generalized, they should be tested on Group-K-Fold by File (grouping all drive cycle CSVs instead of using random row groups), Leave-One-Temperature-Out (train on regimes such as 0C-40C and test on -20C/-10C), and Profile Independence (train on the standard UDDS/HWFET/LA92 cycles and test on dynamic US06/Mixed1-8) which all use header metadata (such as the Test field's drive cycle names) for split grouping only, not as an input to the model.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latin typeface="Bookman Old Style" panose="02050604050505020204" pitchFamily="18" charset="0"/>
              </a:rPr>
              <a:t>In order to ensure strict temporal causality, the derivatives </a:t>
            </a:r>
            <a:r>
              <a:rPr lang="en-US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(</a:t>
            </a:r>
            <a:r>
              <a:rPr lang="en-US" sz="1400" dirty="0" err="1">
                <a:solidFill>
                  <a:srgbClr val="262626"/>
                </a:solidFill>
                <a:latin typeface="Bookman Old Style" panose="02050604050505020204" pitchFamily="18" charset="0"/>
              </a:rPr>
              <a:t>dV</a:t>
            </a:r>
            <a:r>
              <a:rPr lang="en-US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/dt, </a:t>
            </a:r>
            <a:r>
              <a:rPr lang="en-US" sz="1400" dirty="0" err="1">
                <a:solidFill>
                  <a:srgbClr val="262626"/>
                </a:solidFill>
                <a:latin typeface="Bookman Old Style" panose="02050604050505020204" pitchFamily="18" charset="0"/>
              </a:rPr>
              <a:t>dI</a:t>
            </a:r>
            <a:r>
              <a:rPr lang="en-US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/dt, dT/dt) </a:t>
            </a:r>
            <a:r>
              <a:rPr lang="en-US" sz="1400" dirty="0">
                <a:latin typeface="Bookman Old Style" panose="02050604050505020204" pitchFamily="18" charset="0"/>
              </a:rPr>
              <a:t>are calculated by applying backward finite differences </a:t>
            </a:r>
            <a:r>
              <a:rPr lang="en-US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(x(t) - x(t-k)) / (k·</a:t>
            </a:r>
            <a:r>
              <a:rPr lang="el-GR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Δ</a:t>
            </a:r>
            <a:r>
              <a:rPr lang="en-US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t) </a:t>
            </a:r>
            <a:r>
              <a:rPr lang="en-US" sz="1400" dirty="0">
                <a:latin typeface="Bookman Old Style" panose="02050604050505020204" pitchFamily="18" charset="0"/>
              </a:rPr>
              <a:t>under the Zero Future Lookahead paradigm in association with Causal Sliding Windows to construct the historical input vectors </a:t>
            </a:r>
            <a:r>
              <a:rPr lang="en-US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[V_{t-k}...</a:t>
            </a:r>
            <a:r>
              <a:rPr lang="en-US" sz="1400" dirty="0" err="1">
                <a:solidFill>
                  <a:srgbClr val="262626"/>
                </a:solidFill>
                <a:latin typeface="Bookman Old Style" panose="02050604050505020204" pitchFamily="18" charset="0"/>
              </a:rPr>
              <a:t>V_t</a:t>
            </a:r>
            <a:r>
              <a:rPr lang="en-US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, I_{t-k}...</a:t>
            </a:r>
            <a:r>
              <a:rPr lang="en-US" sz="1400" dirty="0" err="1">
                <a:solidFill>
                  <a:srgbClr val="262626"/>
                </a:solidFill>
                <a:latin typeface="Bookman Old Style" panose="02050604050505020204" pitchFamily="18" charset="0"/>
              </a:rPr>
              <a:t>I_t</a:t>
            </a:r>
            <a:r>
              <a:rPr lang="en-US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, T_{t-k}...</a:t>
            </a:r>
            <a:r>
              <a:rPr lang="en-US" sz="1400" dirty="0" err="1">
                <a:solidFill>
                  <a:srgbClr val="262626"/>
                </a:solidFill>
                <a:latin typeface="Bookman Old Style" panose="02050604050505020204" pitchFamily="18" charset="0"/>
              </a:rPr>
              <a:t>T_t</a:t>
            </a:r>
            <a:r>
              <a:rPr lang="en-US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], </a:t>
            </a:r>
            <a:r>
              <a:rPr lang="en-US" sz="1400" dirty="0">
                <a:latin typeface="Bookman Old Style" panose="02050604050505020204" pitchFamily="18" charset="0"/>
              </a:rPr>
              <a:t>in an exclusive future frame-free manner. In parallel, </a:t>
            </a:r>
            <a:r>
              <a:rPr lang="en-US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dT/dt </a:t>
            </a:r>
            <a:r>
              <a:rPr lang="en-US" sz="1400" dirty="0">
                <a:latin typeface="Bookman Old Style" panose="02050604050505020204" pitchFamily="18" charset="0"/>
              </a:rPr>
              <a:t>is dedicated to implementing the Thermal Rise Kinetics paradigm to account for dynamic Joule heating process at high C-rate pulses, while the Feature Pruning procedure aims at erasing Capacity, </a:t>
            </a:r>
            <a:r>
              <a:rPr lang="en-US" sz="1400" dirty="0" err="1">
                <a:latin typeface="Bookman Old Style" panose="02050604050505020204" pitchFamily="18" charset="0"/>
              </a:rPr>
              <a:t>WhAccu</a:t>
            </a:r>
            <a:r>
              <a:rPr lang="en-US" sz="1400" dirty="0">
                <a:latin typeface="Bookman Old Style" panose="02050604050505020204" pitchFamily="18" charset="0"/>
              </a:rPr>
              <a:t>, Step, Cycle, and </a:t>
            </a:r>
            <a:r>
              <a:rPr lang="en-US" sz="1400" dirty="0" err="1">
                <a:latin typeface="Bookman Old Style" panose="02050604050505020204" pitchFamily="18" charset="0"/>
              </a:rPr>
              <a:t>Cnt</a:t>
            </a:r>
            <a:r>
              <a:rPr lang="en-US" sz="1400" dirty="0">
                <a:latin typeface="Bookman Old Style" panose="02050604050505020204" pitchFamily="18" charset="0"/>
              </a:rPr>
              <a:t> to avoid target and test script memorization.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dirty="0">
                <a:latin typeface="Bookman Old Style" panose="02050604050505020204" pitchFamily="18" charset="0"/>
              </a:rPr>
              <a:t>Coulomb Counting SoC</a:t>
            </a:r>
            <a:r>
              <a:rPr lang="fr-FR" sz="1600" b="1" dirty="0">
                <a:solidFill>
                  <a:srgbClr val="385623"/>
                </a:solidFill>
                <a:latin typeface="Bookman Old Style" panose="02050604050505020204" pitchFamily="18" charset="0"/>
              </a:rPr>
              <a:t>: </a:t>
            </a:r>
            <a:r>
              <a:rPr lang="fr-FR" sz="1400" dirty="0" err="1">
                <a:solidFill>
                  <a:srgbClr val="262626"/>
                </a:solidFill>
                <a:latin typeface="Bookman Old Style" panose="02050604050505020204" pitchFamily="18" charset="0"/>
              </a:rPr>
              <a:t>SoC</a:t>
            </a:r>
            <a:r>
              <a:rPr lang="fr-FR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(t) = </a:t>
            </a:r>
            <a:r>
              <a:rPr lang="fr-FR" sz="1400" dirty="0" err="1">
                <a:solidFill>
                  <a:srgbClr val="262626"/>
                </a:solidFill>
                <a:latin typeface="Bookman Old Style" panose="02050604050505020204" pitchFamily="18" charset="0"/>
              </a:rPr>
              <a:t>SoC</a:t>
            </a:r>
            <a:r>
              <a:rPr lang="fr-FR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(0) + (1/</a:t>
            </a:r>
            <a:r>
              <a:rPr lang="fr-FR" sz="1400" dirty="0" err="1">
                <a:solidFill>
                  <a:srgbClr val="262626"/>
                </a:solidFill>
                <a:latin typeface="Bookman Old Style" panose="02050604050505020204" pitchFamily="18" charset="0"/>
              </a:rPr>
              <a:t>Q_nom</a:t>
            </a:r>
            <a:r>
              <a:rPr lang="fr-FR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) ∫ I(τ)</a:t>
            </a:r>
            <a:r>
              <a:rPr lang="fr-FR" sz="1400" dirty="0" err="1">
                <a:solidFill>
                  <a:srgbClr val="262626"/>
                </a:solidFill>
                <a:latin typeface="Bookman Old Style" panose="02050604050505020204" pitchFamily="18" charset="0"/>
              </a:rPr>
              <a:t>dτ</a:t>
            </a:r>
            <a:r>
              <a:rPr lang="fr-FR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 × 100% </a:t>
            </a:r>
            <a:r>
              <a:rPr lang="en-US" sz="1400" dirty="0">
                <a:latin typeface="Bookman Old Style" panose="02050604050505020204" pitchFamily="18" charset="0"/>
              </a:rPr>
              <a:t>with nominal capacity </a:t>
            </a:r>
            <a:r>
              <a:rPr lang="en-US" sz="1400" dirty="0" err="1">
                <a:solidFill>
                  <a:srgbClr val="262626"/>
                </a:solidFill>
                <a:latin typeface="Bookman Old Style" panose="02050604050505020204" pitchFamily="18" charset="0"/>
              </a:rPr>
              <a:t>Q_nom</a:t>
            </a:r>
            <a:r>
              <a:rPr lang="en-US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 = 3.0 Ah</a:t>
            </a:r>
            <a:r>
              <a:rPr lang="en-US" sz="1400" dirty="0">
                <a:latin typeface="Bookman Old Style" panose="02050604050505020204" pitchFamily="18" charset="0"/>
              </a:rPr>
              <a:t>, Full Charge Reset baseline </a:t>
            </a:r>
            <a:r>
              <a:rPr lang="en-US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SoC(0) = 100%</a:t>
            </a:r>
            <a:r>
              <a:rPr lang="en-US" sz="1400" dirty="0">
                <a:latin typeface="Bookman Old Style" panose="02050604050505020204" pitchFamily="18" charset="0"/>
              </a:rPr>
              <a:t> at full charge </a:t>
            </a:r>
            <a:r>
              <a:rPr lang="en-US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state (V = 4.20V, I &lt; 0.05A), </a:t>
            </a:r>
            <a:r>
              <a:rPr lang="en-US" sz="1400" dirty="0">
                <a:latin typeface="Bookman Old Style" panose="02050604050505020204" pitchFamily="18" charset="0"/>
              </a:rPr>
              <a:t>, clipped to </a:t>
            </a:r>
            <a:r>
              <a:rPr lang="en-US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[0.0%, 100.0].Cleaning </a:t>
            </a:r>
            <a:r>
              <a:rPr lang="en-US" sz="1400" dirty="0">
                <a:latin typeface="Bookman Old Style" panose="02050604050505020204" pitchFamily="18" charset="0"/>
              </a:rPr>
              <a:t>Pipeline: </a:t>
            </a:r>
            <a:r>
              <a:rPr lang="en-US" sz="1600" b="1" dirty="0">
                <a:solidFill>
                  <a:srgbClr val="385623"/>
                </a:solidFill>
                <a:latin typeface="Bookman Old Style" panose="02050604050505020204" pitchFamily="18" charset="0"/>
              </a:rPr>
              <a:t>: </a:t>
            </a:r>
            <a:r>
              <a:rPr lang="en-US" sz="1400" dirty="0">
                <a:solidFill>
                  <a:srgbClr val="262626"/>
                </a:solidFill>
                <a:latin typeface="Bookman Old Style" panose="02050604050505020204" pitchFamily="18" charset="0"/>
              </a:rPr>
              <a:t>Raw CSV → Header Metadata Extract → Monotonic Sort &amp; Deduplication → 0V Filter &amp; Interpolation → Uniform Resampling → Causal Features → Group Split.</a:t>
            </a:r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6FAF8-7B99-D6CE-00C7-03985FCC97CA}"/>
              </a:ext>
            </a:extLst>
          </p:cNvPr>
          <p:cNvSpPr txBox="1"/>
          <p:nvPr/>
        </p:nvSpPr>
        <p:spPr>
          <a:xfrm>
            <a:off x="668216" y="6310775"/>
            <a:ext cx="30700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ookman Old Style" panose="02050604050505020204" pitchFamily="18" charset="0"/>
              </a:rPr>
              <a:t>Name: M A NIRANJANI NAIR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6BEE01-C0C5-D892-7BD4-AA144EB48029}"/>
              </a:ext>
            </a:extLst>
          </p:cNvPr>
          <p:cNvSpPr txBox="1"/>
          <p:nvPr/>
        </p:nvSpPr>
        <p:spPr>
          <a:xfrm>
            <a:off x="9100038" y="6307574"/>
            <a:ext cx="28793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ookman Old Style" panose="02050604050505020204" pitchFamily="18" charset="0"/>
              </a:rPr>
              <a:t>MENTOR:VAMSI KRISHNA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921</Words>
  <Application>Microsoft Office PowerPoint</Application>
  <PresentationFormat>Widescreen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Bookman Old Style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Niranjani Nair M.A</dc:creator>
  <cp:keywords/>
  <dc:description>generated using python-pptx</dc:description>
  <cp:lastModifiedBy>Niranjani Nair M.A</cp:lastModifiedBy>
  <cp:revision>4</cp:revision>
  <dcterms:created xsi:type="dcterms:W3CDTF">2013-01-27T09:14:16Z</dcterms:created>
  <dcterms:modified xsi:type="dcterms:W3CDTF">2026-09-17T18:57:12Z</dcterms:modified>
  <cp:category/>
</cp:coreProperties>
</file>